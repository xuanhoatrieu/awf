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Georgia"/>
              </a:defRPr>
            </a:pPr>
            <a:r>
              <a:t>Cong cu va Moi truong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FFFFFF"/>
                </a:solidFill>
                <a:latin typeface="Arial"/>
              </a:defRPr>
            </a:pPr>
            <a:r>
              <a:t>Phan I - Bai 02 - Nhap Mon Hoc May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Georgia"/>
              </a:defRPr>
            </a:pPr>
            <a:r>
              <a:t>Muc tieu bai hoc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0" sz="2000">
                <a:solidFill>
                  <a:srgbClr val="3A664D"/>
                </a:solidFill>
                <a:latin typeface="Arial"/>
              </a:defRPr>
            </a:pPr>
            <a:r>
              <a:t>Thiet lap Google Colab</a:t>
            </a:r>
          </a:p>
          <a:p>
            <a:pPr>
              <a:spcAft>
                <a:spcPts val="600"/>
              </a:spcAft>
              <a:defRPr b="0" sz="2000">
                <a:solidFill>
                  <a:srgbClr val="3A664D"/>
                </a:solidFill>
                <a:latin typeface="Arial"/>
              </a:defRPr>
            </a:pPr>
            <a:r>
              <a:t>Thao tac NumPy</a:t>
            </a:r>
          </a:p>
          <a:p>
            <a:pPr>
              <a:spcAft>
                <a:spcPts val="600"/>
              </a:spcAft>
              <a:defRPr b="0" sz="2000">
                <a:solidFill>
                  <a:srgbClr val="3A664D"/>
                </a:solidFill>
                <a:latin typeface="Arial"/>
              </a:defRPr>
            </a:pPr>
            <a:r>
              <a:t>Doc du lieu Pandas</a:t>
            </a:r>
          </a:p>
          <a:p>
            <a:pPr>
              <a:spcAft>
                <a:spcPts val="600"/>
              </a:spcAft>
              <a:defRPr b="0" sz="2000">
                <a:solidFill>
                  <a:srgbClr val="3A664D"/>
                </a:solidFill>
                <a:latin typeface="Arial"/>
              </a:defRPr>
            </a:pPr>
            <a:r>
              <a:t>Truc quan hoa Matplotlib</a:t>
            </a:r>
          </a:p>
        </p:txBody>
      </p:sp>
      <p:sp>
        <p:nvSpPr>
          <p:cNvPr id="4" name="Oval 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FFFFFF">
              <a:lumMod val="50000"/>
              <a:lumOff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A664D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Georgia"/>
              </a:defRPr>
            </a:pPr>
            <a:r>
              <a:t>Noi dung bai hoc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0" sz="2000">
                <a:solidFill>
                  <a:srgbClr val="3A664D"/>
                </a:solidFill>
                <a:latin typeface="Arial"/>
              </a:defRPr>
            </a:pPr>
            <a:r>
              <a:t>1. Moi truong tinh toan</a:t>
            </a:r>
          </a:p>
          <a:p>
            <a:pPr>
              <a:spcAft>
                <a:spcPts val="600"/>
              </a:spcAft>
              <a:defRPr b="0" sz="2000">
                <a:solidFill>
                  <a:srgbClr val="3A664D"/>
                </a:solidFill>
                <a:latin typeface="Arial"/>
              </a:defRPr>
            </a:pPr>
            <a:r>
              <a:t>2. He sinh thai thu vien</a:t>
            </a:r>
          </a:p>
        </p:txBody>
      </p:sp>
      <p:sp>
        <p:nvSpPr>
          <p:cNvPr id="4" name="Oval 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FFFFFF">
              <a:lumMod val="50000"/>
              <a:lumOff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A664D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Georgia"/>
              </a:defRPr>
            </a:pPr>
            <a:r>
              <a:t>Moi truong Tinh toan Tuong tac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Georgia"/>
              </a:defRPr>
            </a:pPr>
            <a:r>
              <a:t>Google Colab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0" sz="2000">
                <a:solidFill>
                  <a:srgbClr val="3A664D"/>
                </a:solidFill>
                <a:latin typeface="Arial"/>
              </a:defRPr>
            </a:pPr>
            <a:r>
              <a:t>Jupyter Notebook tren cloud</a:t>
            </a:r>
          </a:p>
          <a:p>
            <a:pPr>
              <a:spcAft>
                <a:spcPts val="600"/>
              </a:spcAft>
              <a:defRPr b="0" sz="2000">
                <a:solidFill>
                  <a:srgbClr val="3A664D"/>
                </a:solidFill>
                <a:latin typeface="Arial"/>
              </a:defRPr>
            </a:pPr>
            <a:r>
              <a:t>Mien phi GPU</a:t>
            </a:r>
          </a:p>
          <a:p>
            <a:pPr>
              <a:spcAft>
                <a:spcPts val="600"/>
              </a:spcAft>
              <a:defRPr b="0" sz="2000">
                <a:solidFill>
                  <a:srgbClr val="3A664D"/>
                </a:solidFill>
                <a:latin typeface="Arial"/>
              </a:defRPr>
            </a:pPr>
            <a:r>
              <a:t>Chia se de dang</a:t>
            </a:r>
          </a:p>
        </p:txBody>
      </p:sp>
      <p:sp>
        <p:nvSpPr>
          <p:cNvPr id="4" name="Oval 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FFFFFF">
              <a:lumMod val="50000"/>
              <a:lumOff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A664D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Georgia"/>
              </a:defRPr>
            </a:pPr>
            <a:r>
              <a:t>Quan ly thu vien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2200">
                <a:solidFill>
                  <a:srgbClr val="3A664D"/>
                </a:solidFill>
                <a:latin typeface="Arial"/>
              </a:defRPr>
            </a:pPr>
            <a:r>
              <a:t>import numpy as np</a:t>
            </a:r>
          </a:p>
          <a:p>
            <a:pPr lvl="1">
              <a:spcAft>
                <a:spcPts val="800"/>
              </a:spcAft>
              <a:defRPr b="0" sz="1800">
                <a:solidFill>
                  <a:srgbClr val="3A664D"/>
                </a:solidFill>
                <a:latin typeface="Arial"/>
              </a:defRPr>
            </a:pPr>
            <a:r>
              <a:t>Thu vien tinh toan so hoc</a:t>
            </a:r>
          </a:p>
          <a:p>
            <a:pPr>
              <a:spcAft>
                <a:spcPts val="600"/>
              </a:spcAft>
              <a:defRPr b="1" sz="2200">
                <a:solidFill>
                  <a:srgbClr val="3A664D"/>
                </a:solidFill>
                <a:latin typeface="Arial"/>
              </a:defRPr>
            </a:pPr>
            <a:r>
              <a:t>import pandas as pd</a:t>
            </a:r>
          </a:p>
          <a:p>
            <a:pPr lvl="1">
              <a:spcAft>
                <a:spcPts val="800"/>
              </a:spcAft>
              <a:defRPr b="0" sz="1800">
                <a:solidFill>
                  <a:srgbClr val="3A664D"/>
                </a:solidFill>
                <a:latin typeface="Arial"/>
              </a:defRPr>
            </a:pPr>
            <a:r>
              <a:t>Thu vien xu ly du lieu bang</a:t>
            </a:r>
          </a:p>
        </p:txBody>
      </p:sp>
      <p:sp>
        <p:nvSpPr>
          <p:cNvPr id="4" name="Oval 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FFFFFF">
              <a:lumMod val="50000"/>
              <a:lumOff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A664D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Georgia"/>
              </a:defRPr>
            </a:pPr>
            <a:r>
              <a:t>He sinh thai Thu vien Nen tang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Georgia"/>
              </a:defRPr>
            </a:pPr>
            <a:r>
              <a:t>NumPy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0" sz="2000">
                <a:solidFill>
                  <a:srgbClr val="3A664D"/>
                </a:solidFill>
                <a:latin typeface="Arial"/>
              </a:defRPr>
            </a:pPr>
            <a:r>
              <a:t>Mang ndarray dong nhat</a:t>
            </a:r>
          </a:p>
          <a:p>
            <a:pPr>
              <a:spcAft>
                <a:spcPts val="600"/>
              </a:spcAft>
              <a:defRPr b="0" sz="2000">
                <a:solidFill>
                  <a:srgbClr val="3A664D"/>
                </a:solidFill>
                <a:latin typeface="Arial"/>
              </a:defRPr>
            </a:pPr>
            <a:r>
              <a:t>Vector hoa nhanh gap 100x</a:t>
            </a:r>
          </a:p>
          <a:p>
            <a:pPr>
              <a:spcAft>
                <a:spcPts val="600"/>
              </a:spcAft>
              <a:defRPr b="0" sz="2000">
                <a:solidFill>
                  <a:srgbClr val="3A664D"/>
                </a:solidFill>
                <a:latin typeface="Arial"/>
              </a:defRPr>
            </a:pPr>
            <a:r>
              <a:t>Broadcasting</a:t>
            </a:r>
          </a:p>
        </p:txBody>
      </p:sp>
      <p:sp>
        <p:nvSpPr>
          <p:cNvPr id="4" name="Oval 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FFFFFF">
              <a:lumMod val="50000"/>
              <a:lumOff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A664D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Georgia"/>
              </a:defRPr>
            </a:pPr>
            <a:r>
              <a:t>Tong 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0" sz="2000">
                <a:solidFill>
                  <a:srgbClr val="3A664D"/>
                </a:solidFill>
                <a:latin typeface="Arial"/>
              </a:defRPr>
            </a:pPr>
            <a:r>
              <a:t>Google Colab = moi truong sandbox</a:t>
            </a:r>
          </a:p>
          <a:p>
            <a:pPr>
              <a:spcAft>
                <a:spcPts val="600"/>
              </a:spcAft>
              <a:defRPr b="0" sz="2000">
                <a:solidFill>
                  <a:srgbClr val="3A664D"/>
                </a:solidFill>
                <a:latin typeface="Arial"/>
              </a:defRPr>
            </a:pPr>
            <a:r>
              <a:t>NumPy = tinh toan nhanh</a:t>
            </a:r>
          </a:p>
          <a:p>
            <a:pPr>
              <a:spcAft>
                <a:spcPts val="600"/>
              </a:spcAft>
              <a:defRPr b="0" sz="2000">
                <a:solidFill>
                  <a:srgbClr val="3A664D"/>
                </a:solidFill>
                <a:latin typeface="Arial"/>
              </a:defRPr>
            </a:pPr>
            <a:r>
              <a:t>Pandas = du lieu bang</a:t>
            </a:r>
          </a:p>
          <a:p>
            <a:pPr>
              <a:spcAft>
                <a:spcPts val="600"/>
              </a:spcAft>
              <a:defRPr b="0" sz="2000">
                <a:solidFill>
                  <a:srgbClr val="3A664D"/>
                </a:solidFill>
                <a:latin typeface="Arial"/>
              </a:defRPr>
            </a:pPr>
            <a:r>
              <a:t>Matplotlib = truc quan hoa</a:t>
            </a:r>
          </a:p>
        </p:txBody>
      </p:sp>
      <p:sp>
        <p:nvSpPr>
          <p:cNvPr id="4" name="Oval 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FFFFFF">
              <a:lumMod val="50000"/>
              <a:lumOff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A664D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Georgia"/>
              </a:defRPr>
            </a:pPr>
            <a:r>
              <a:t>Thao luan &amp; Bai tap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0" sz="2000">
                <a:solidFill>
                  <a:srgbClr val="3A664D"/>
                </a:solidFill>
                <a:latin typeface="Arial"/>
              </a:defRPr>
            </a:pPr>
            <a:r>
              <a:t>Bai 1: Tao vector NumPy 10 phan tu</a:t>
            </a:r>
          </a:p>
          <a:p>
            <a:pPr>
              <a:spcAft>
                <a:spcPts val="600"/>
              </a:spcAft>
              <a:defRPr b="0" sz="2000">
                <a:solidFill>
                  <a:srgbClr val="3A664D"/>
                </a:solidFill>
                <a:latin typeface="Arial"/>
              </a:defRPr>
            </a:pPr>
            <a:r>
              <a:t>Bai 2: Nap California Housing</a:t>
            </a:r>
          </a:p>
          <a:p>
            <a:pPr>
              <a:spcAft>
                <a:spcPts val="600"/>
              </a:spcAft>
              <a:defRPr b="0" sz="2000">
                <a:solidFill>
                  <a:srgbClr val="3A664D"/>
                </a:solidFill>
                <a:latin typeface="Arial"/>
              </a:defRPr>
            </a:pPr>
            <a:r>
              <a:t>Bai 3: Bao cao EDA</a:t>
            </a:r>
          </a:p>
        </p:txBody>
      </p:sp>
      <p:sp>
        <p:nvSpPr>
          <p:cNvPr id="4" name="Oval 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FFFFFF">
              <a:lumMod val="50000"/>
              <a:lumOff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A664D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Georgia"/>
              </a:defRPr>
            </a:pPr>
            <a:r>
              <a:t>Cam on!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Bai tiep theo: Tien xu ly Du lieu &amp; EDA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